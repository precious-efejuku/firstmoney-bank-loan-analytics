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8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4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4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1F1E3142-9A25-F443-33EB-3EA1407CA03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9053B75E-0DB6-64B3-2DB6-024789BD9205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153CDA80-8A69-D45B-F0A4-7E81FBFB43D6}"/>
              </a:ext>
            </a:extLst>
          </p:cNvPr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FIRSTMONEY BANK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2FBB73C-22FD-6CA7-5980-86D65019FE56}"/>
              </a:ext>
            </a:extLst>
          </p:cNvPr>
          <p:cNvSpPr/>
          <p:nvPr/>
        </p:nvSpPr>
        <p:spPr>
          <a:xfrm>
            <a:off x="685799" y="1061357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Loan Sales &amp; Repayment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Performance Report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F98D665-C259-1094-B8CC-77D8F99A4483}"/>
              </a:ext>
            </a:extLst>
          </p:cNvPr>
          <p:cNvSpPr/>
          <p:nvPr/>
        </p:nvSpPr>
        <p:spPr>
          <a:xfrm>
            <a:off x="3474720" y="3108960"/>
            <a:ext cx="2194560" cy="4572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E1BA637-E8D8-B89F-F7A8-07FDC97A58D9}"/>
              </a:ext>
            </a:extLst>
          </p:cNvPr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2DFD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review of branch performance, loan defaults, and repayment trends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rgbClr val="B2DFD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 guide strategic decision-making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2F9934DE-9FBB-1B04-CEEB-2AF588114FEB}"/>
              </a:ext>
            </a:extLst>
          </p:cNvPr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CB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Prepared by: Efejuku Precious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Why We Are Here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029200" cy="4114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12%</a:t>
            </a:r>
            <a:endParaRPr lang="en-US" sz="9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30601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rise in loan defaults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372465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DD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last quarter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0" y="784859"/>
            <a:ext cx="3108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Who is defaulting and where?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42432" y="1005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This report answers: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82640" y="1648969"/>
            <a:ext cx="134112" cy="137159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022848" y="15803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Which branches are struggling?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82640" y="2305268"/>
            <a:ext cx="134112" cy="137159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13" name="Text 11"/>
          <p:cNvSpPr/>
          <p:nvPr/>
        </p:nvSpPr>
        <p:spPr>
          <a:xfrm>
            <a:off x="6022848" y="2238211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Who is defaulting and where?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82640" y="2963091"/>
            <a:ext cx="134112" cy="137159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6022848" y="289603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Are repayments on track?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82640" y="3620914"/>
            <a:ext cx="134112" cy="137159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17" name="Text 15"/>
          <p:cNvSpPr/>
          <p:nvPr/>
        </p:nvSpPr>
        <p:spPr>
          <a:xfrm>
            <a:off x="6022848" y="35557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sto MT" panose="02040603050505030304" pitchFamily="18" charset="0"/>
                <a:ea typeface="Cambria" panose="02040503050406030204" pitchFamily="18" charset="0"/>
                <a:cs typeface="Calibri" pitchFamily="34" charset="-120"/>
              </a:rPr>
              <a:t>What </a:t>
            </a: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should</a:t>
            </a:r>
            <a:r>
              <a:rPr lang="en-US" sz="1200" dirty="0">
                <a:solidFill>
                  <a:srgbClr val="212121"/>
                </a:solidFill>
                <a:latin typeface="Calisto MT" panose="02040603050505030304" pitchFamily="18" charset="0"/>
                <a:ea typeface="Cambria" panose="02040503050406030204" pitchFamily="18" charset="0"/>
                <a:cs typeface="Calibri" pitchFamily="34" charset="-120"/>
              </a:rPr>
              <a:t> we do next?</a:t>
            </a:r>
            <a:endParaRPr lang="en-US" sz="1200" dirty="0">
              <a:latin typeface="Calisto MT" panose="020406030505050303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Numbers at a Glance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886968"/>
            <a:ext cx="2029968" cy="365890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029968" cy="1097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600" y="128016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₦1.78bn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2834640"/>
            <a:ext cx="1664208" cy="36576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297180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Total Loans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Disbursed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41448" y="777240"/>
            <a:ext cx="2029968" cy="37686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41448" y="777240"/>
            <a:ext cx="202996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41448" y="128016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97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500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24328" y="2834640"/>
            <a:ext cx="1664208" cy="36576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41448" y="297180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Loans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Issued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54296" y="777240"/>
            <a:ext cx="2029968" cy="3768634"/>
          </a:xfrm>
          <a:prstGeom prst="rect">
            <a:avLst/>
          </a:prstGeom>
          <a:solidFill>
            <a:srgbClr val="FFFFFF"/>
          </a:solidFill>
          <a:ln w="12700">
            <a:solidFill>
              <a:srgbClr val="4DB6A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54296" y="777240"/>
            <a:ext cx="2029968" cy="109728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54296" y="128016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₦1.03bn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37176" y="2834640"/>
            <a:ext cx="1664208" cy="36576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54296" y="297180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Repayments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Collected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67144" y="777240"/>
            <a:ext cx="2029968" cy="3768634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67144" y="777240"/>
            <a:ext cx="2029968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67144" y="128016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13.8%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50024" y="2834640"/>
            <a:ext cx="1664208" cy="36576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67144" y="2971800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Default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Rate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Branch Performance — Loan Volume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880" y="7132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Maitama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11680" y="758952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1680" y="758952"/>
            <a:ext cx="5303520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06640" y="7132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₦300M+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Rumuola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0" y="1188720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1188720"/>
            <a:ext cx="4242816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06640" y="1143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₦240M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2880" y="15727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Ikeja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11680" y="1618488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1618488"/>
            <a:ext cx="3500323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6640" y="15727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₦200M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" y="20025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Bompai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11680" y="2048256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0" y="2048256"/>
            <a:ext cx="2863901" cy="23774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06640" y="20025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₦163M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2880" y="24323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Sabon Gari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11680" y="2478024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11680" y="2478024"/>
            <a:ext cx="2333549" cy="23774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06640" y="24323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₦132M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2880" y="2862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Lekki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011680" y="2907792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80" y="2907792"/>
            <a:ext cx="1909267" cy="23774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06640" y="28620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₦108M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2880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Garki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011680" y="3337560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011680" y="3337560"/>
            <a:ext cx="1484986" cy="23774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06640" y="32918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₦84M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82880" y="3721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Victoria Island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011680" y="3767328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011680" y="3767328"/>
            <a:ext cx="1113739" cy="237744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406640" y="37216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₦63M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82880" y="41513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Port Harcourt GRA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011680" y="4197096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011680" y="4197096"/>
            <a:ext cx="742493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06640" y="41513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₦42M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82880" y="45811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Wuse II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011680" y="4626864"/>
            <a:ext cx="5303520" cy="237744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011680" y="4626864"/>
            <a:ext cx="477317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06640" y="458114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₦27M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296656" y="4224528"/>
            <a:ext cx="137160" cy="2377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61248" y="42245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Top</a:t>
            </a:r>
            <a:r>
              <a:rPr lang="en-US" sz="90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96656" y="4654296"/>
            <a:ext cx="13716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61248" y="465429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Lowest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2092" y="296037"/>
            <a:ext cx="3970020" cy="455142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6F5ED54A-B51A-AE03-5888-9F5D072050CF}"/>
              </a:ext>
            </a:extLst>
          </p:cNvPr>
          <p:cNvSpPr/>
          <p:nvPr/>
        </p:nvSpPr>
        <p:spPr>
          <a:xfrm>
            <a:off x="609600" y="934593"/>
            <a:ext cx="3352800" cy="225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13.8%</a:t>
            </a: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6E90061B-75B6-E7CA-5ACF-C7174E29727A}"/>
              </a:ext>
            </a:extLst>
          </p:cNvPr>
          <p:cNvSpPr/>
          <p:nvPr/>
        </p:nvSpPr>
        <p:spPr>
          <a:xfrm>
            <a:off x="563880" y="2663952"/>
            <a:ext cx="335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DD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of loans have defaulted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1034F955-8398-AF9B-4AD3-2F498D862547}"/>
              </a:ext>
            </a:extLst>
          </p:cNvPr>
          <p:cNvSpPr/>
          <p:nvPr/>
        </p:nvSpPr>
        <p:spPr>
          <a:xfrm>
            <a:off x="-45720" y="3121533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DD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69 out of 500 loans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7C060681-72BB-51FC-D22B-89E880F15C11}"/>
              </a:ext>
            </a:extLst>
          </p:cNvPr>
          <p:cNvSpPr/>
          <p:nvPr/>
        </p:nvSpPr>
        <p:spPr>
          <a:xfrm>
            <a:off x="4572000" y="29108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Loan Status Breakdown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F0BD9A42-7717-06F8-31B5-F2C880085535}"/>
              </a:ext>
            </a:extLst>
          </p:cNvPr>
          <p:cNvSpPr/>
          <p:nvPr/>
        </p:nvSpPr>
        <p:spPr>
          <a:xfrm>
            <a:off x="4587240" y="9220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Fully Paid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02A3902F-925F-AD8C-8CB6-11313A9E0418}"/>
              </a:ext>
            </a:extLst>
          </p:cNvPr>
          <p:cNvSpPr/>
          <p:nvPr/>
        </p:nvSpPr>
        <p:spPr>
          <a:xfrm>
            <a:off x="7513320" y="9220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~220 loans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BE1B9F36-69CD-65DF-D71F-1C4E245D0529}"/>
              </a:ext>
            </a:extLst>
          </p:cNvPr>
          <p:cNvSpPr/>
          <p:nvPr/>
        </p:nvSpPr>
        <p:spPr>
          <a:xfrm>
            <a:off x="4587240" y="1306068"/>
            <a:ext cx="4023360" cy="384048"/>
          </a:xfrm>
          <a:prstGeom prst="rect">
            <a:avLst/>
          </a:prstGeom>
          <a:solidFill>
            <a:srgbClr val="1A3A35"/>
          </a:solidFill>
          <a:ln w="12700">
            <a:solidFill>
              <a:srgbClr val="1A3A35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9B4E71C1-C6CB-56A7-41A7-465328CAAF68}"/>
              </a:ext>
            </a:extLst>
          </p:cNvPr>
          <p:cNvSpPr/>
          <p:nvPr/>
        </p:nvSpPr>
        <p:spPr>
          <a:xfrm>
            <a:off x="4587240" y="1306068"/>
            <a:ext cx="1770278" cy="384048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E3954617-3A68-D048-9F4E-F32A3B26C31E}"/>
              </a:ext>
            </a:extLst>
          </p:cNvPr>
          <p:cNvSpPr/>
          <p:nvPr/>
        </p:nvSpPr>
        <p:spPr>
          <a:xfrm>
            <a:off x="4632960" y="13243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44%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B46C1D2-7FE8-DE1F-6AFA-572599EC07D2}"/>
              </a:ext>
            </a:extLst>
          </p:cNvPr>
          <p:cNvSpPr/>
          <p:nvPr/>
        </p:nvSpPr>
        <p:spPr>
          <a:xfrm>
            <a:off x="4572000" y="20375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Active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912A420F-3928-9C3F-05F8-53B7ABEA9B36}"/>
              </a:ext>
            </a:extLst>
          </p:cNvPr>
          <p:cNvSpPr/>
          <p:nvPr/>
        </p:nvSpPr>
        <p:spPr>
          <a:xfrm>
            <a:off x="7498080" y="20375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~169 loans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B3751F57-CFBC-8896-8718-0F64589603FE}"/>
              </a:ext>
            </a:extLst>
          </p:cNvPr>
          <p:cNvSpPr/>
          <p:nvPr/>
        </p:nvSpPr>
        <p:spPr>
          <a:xfrm>
            <a:off x="4572000" y="2421636"/>
            <a:ext cx="4023360" cy="384048"/>
          </a:xfrm>
          <a:prstGeom prst="rect">
            <a:avLst/>
          </a:prstGeom>
          <a:solidFill>
            <a:srgbClr val="1A3A35"/>
          </a:solidFill>
          <a:ln w="12700">
            <a:solidFill>
              <a:srgbClr val="1A3A35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14C60E15-D2F2-E983-8184-9F047FD11DAB}"/>
              </a:ext>
            </a:extLst>
          </p:cNvPr>
          <p:cNvSpPr/>
          <p:nvPr/>
        </p:nvSpPr>
        <p:spPr>
          <a:xfrm>
            <a:off x="4572000" y="2421636"/>
            <a:ext cx="1367942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5A357757-4ECF-547D-52F6-CB87715BD07D}"/>
              </a:ext>
            </a:extLst>
          </p:cNvPr>
          <p:cNvSpPr/>
          <p:nvPr/>
        </p:nvSpPr>
        <p:spPr>
          <a:xfrm>
            <a:off x="4617720" y="24399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34%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228A33BF-F2C7-4F4A-EEBD-1E580255BD54}"/>
              </a:ext>
            </a:extLst>
          </p:cNvPr>
          <p:cNvSpPr/>
          <p:nvPr/>
        </p:nvSpPr>
        <p:spPr>
          <a:xfrm>
            <a:off x="4579620" y="3148965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Defaulted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7EAFBE37-E8F6-6A5C-8E37-D8FA66AFD84D}"/>
              </a:ext>
            </a:extLst>
          </p:cNvPr>
          <p:cNvSpPr/>
          <p:nvPr/>
        </p:nvSpPr>
        <p:spPr>
          <a:xfrm>
            <a:off x="7505700" y="3148965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~69 loans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BF16EE55-4433-8D68-4360-64C4798DAFB5}"/>
              </a:ext>
            </a:extLst>
          </p:cNvPr>
          <p:cNvSpPr/>
          <p:nvPr/>
        </p:nvSpPr>
        <p:spPr>
          <a:xfrm>
            <a:off x="4579620" y="3533013"/>
            <a:ext cx="4023360" cy="384048"/>
          </a:xfrm>
          <a:prstGeom prst="rect">
            <a:avLst/>
          </a:prstGeom>
          <a:solidFill>
            <a:srgbClr val="1A3A35"/>
          </a:solidFill>
          <a:ln w="12700">
            <a:solidFill>
              <a:srgbClr val="1A3A35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2C8A5461-84FD-20DA-F3FB-F3198F98A2A8}"/>
              </a:ext>
            </a:extLst>
          </p:cNvPr>
          <p:cNvSpPr/>
          <p:nvPr/>
        </p:nvSpPr>
        <p:spPr>
          <a:xfrm>
            <a:off x="4579620" y="3533013"/>
            <a:ext cx="56327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263EDC3F-D5FA-D50B-309A-0E44261EDB13}"/>
              </a:ext>
            </a:extLst>
          </p:cNvPr>
          <p:cNvSpPr/>
          <p:nvPr/>
        </p:nvSpPr>
        <p:spPr>
          <a:xfrm>
            <a:off x="4625340" y="3551301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14%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9CB80309-F28A-BF1B-95B5-3C6D1562D45F}"/>
              </a:ext>
            </a:extLst>
          </p:cNvPr>
          <p:cNvSpPr/>
          <p:nvPr/>
        </p:nvSpPr>
        <p:spPr>
          <a:xfrm>
            <a:off x="4579620" y="3880485"/>
            <a:ext cx="402336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CE60CD75-BFA3-9496-60F3-B3AE9EB70D8E}"/>
              </a:ext>
            </a:extLst>
          </p:cNvPr>
          <p:cNvSpPr/>
          <p:nvPr/>
        </p:nvSpPr>
        <p:spPr>
          <a:xfrm>
            <a:off x="4579620" y="3898773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~₦246M at risk of not being recovered</a:t>
            </a:r>
            <a:endParaRPr lang="en-US" sz="13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FB519EC9-EFE7-2244-329A-69FA2178FE5A}"/>
              </a:ext>
            </a:extLst>
          </p:cNvPr>
          <p:cNvSpPr/>
          <p:nvPr/>
        </p:nvSpPr>
        <p:spPr>
          <a:xfrm>
            <a:off x="4579620" y="4200525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fund ~69 new healthy loans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Where Are Defaults Happening?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4320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North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~40%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7371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default rate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3188208"/>
            <a:ext cx="2103120" cy="320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3182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Highest Risk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5981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SME customers most affected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27832" y="74980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3227832" y="749808"/>
            <a:ext cx="27432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27832" y="749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South-West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27832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51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~28%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27832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default rate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47872" y="3182112"/>
            <a:ext cx="210312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47872" y="3182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Elevated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92424" y="35295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Corporate loans under stress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81344" y="749808"/>
            <a:ext cx="2743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6181344" y="749808"/>
            <a:ext cx="274320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81344" y="7498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South-South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81344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695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~22%</a:t>
            </a:r>
            <a:endParaRPr lang="en-US" sz="4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81344" y="27371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default rate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01384" y="3182112"/>
            <a:ext cx="2103120" cy="320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01384" y="3182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Manageable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18504" y="35448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Lowest rate of the three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2DDF447F-A731-C94A-1873-942317FB13CD}"/>
              </a:ext>
            </a:extLst>
          </p:cNvPr>
          <p:cNvSpPr/>
          <p:nvPr/>
        </p:nvSpPr>
        <p:spPr>
          <a:xfrm>
            <a:off x="920496" y="4203192"/>
            <a:ext cx="1450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primary default driver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441A6E1C-ABC1-3A22-C5C5-A5F60F92C773}"/>
              </a:ext>
            </a:extLst>
          </p:cNvPr>
          <p:cNvSpPr/>
          <p:nvPr/>
        </p:nvSpPr>
        <p:spPr>
          <a:xfrm>
            <a:off x="777240" y="4514850"/>
            <a:ext cx="173736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5DF0E75-8762-B69E-2E26-5AF23865265E}"/>
              </a:ext>
            </a:extLst>
          </p:cNvPr>
          <p:cNvSpPr/>
          <p:nvPr/>
        </p:nvSpPr>
        <p:spPr>
          <a:xfrm>
            <a:off x="777240" y="451485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  See Recommendation 1</a:t>
            </a:r>
            <a:endParaRPr lang="en-US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Monthly Repayments Collected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669725"/>
            <a:ext cx="8595360" cy="3715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1075944"/>
            <a:ext cx="7589520" cy="0"/>
          </a:xfrm>
          <a:prstGeom prst="line">
            <a:avLst/>
          </a:prstGeom>
          <a:noFill/>
          <a:ln w="1016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96621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₦90M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1670304"/>
            <a:ext cx="7589520" cy="0"/>
          </a:xfrm>
          <a:prstGeom prst="line">
            <a:avLst/>
          </a:prstGeom>
          <a:noFill/>
          <a:ln w="1016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" y="156057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₦88M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2264664"/>
            <a:ext cx="7589520" cy="0"/>
          </a:xfrm>
          <a:prstGeom prst="line">
            <a:avLst/>
          </a:prstGeom>
          <a:noFill/>
          <a:ln w="1016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2608" y="215493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₦86M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2859024"/>
            <a:ext cx="7589520" cy="0"/>
          </a:xfrm>
          <a:prstGeom prst="line">
            <a:avLst/>
          </a:prstGeom>
          <a:noFill/>
          <a:ln w="1016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2608" y="274929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₦84M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05840" y="3453384"/>
            <a:ext cx="7589520" cy="0"/>
          </a:xfrm>
          <a:prstGeom prst="line">
            <a:avLst/>
          </a:prstGeom>
          <a:noFill/>
          <a:ln w="1016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" y="3343656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₦82M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 rot="-932964">
            <a:off x="1071760" y="3233358"/>
            <a:ext cx="692871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 rot="-4093942">
            <a:off x="1210336" y="2320388"/>
            <a:ext cx="1799985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 rot="3769424">
            <a:off x="2104277" y="2154079"/>
            <a:ext cx="1461504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 rot="932964">
            <a:off x="3099814" y="2851881"/>
            <a:ext cx="692871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 rot="381058">
            <a:off x="3767327" y="2993410"/>
            <a:ext cx="671634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 rot="-4256207">
            <a:off x="3795030" y="2007900"/>
            <a:ext cx="2043752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 rot="4213941">
            <a:off x="4481227" y="2071743"/>
            <a:ext cx="1973680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 rot="-381058" flipV="1">
            <a:off x="5787199" y="2908450"/>
            <a:ext cx="705904" cy="94947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 rot="-4168570">
            <a:off x="5847017" y="1951625"/>
            <a:ext cx="1903929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 rot="2391227">
            <a:off x="7061037" y="1395699"/>
            <a:ext cx="869516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 rot="2391227">
            <a:off x="7703402" y="1926337"/>
            <a:ext cx="869516" cy="0"/>
          </a:xfrm>
          <a:prstGeom prst="line">
            <a:avLst/>
          </a:prstGeom>
          <a:noFill/>
          <a:ln w="3175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14984" y="322249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82496" y="3036761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350008" y="1365123"/>
            <a:ext cx="164592" cy="16459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017520" y="266528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85032" y="285102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352544" y="291201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0056" y="993648"/>
            <a:ext cx="164592" cy="16459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24099" y="296875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55080" y="27767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022592" y="993648"/>
            <a:ext cx="164592" cy="16459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690104" y="1550861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357616" y="210807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2960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Jan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490472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Feb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157984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Mar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25496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Apr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493008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May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160520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Jun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28032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Jul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495544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Aug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163056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Sep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30568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Oct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498080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Nov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165592" y="4093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Dec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74320" y="4352209"/>
            <a:ext cx="8595360" cy="7132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7" name="Text 55"/>
          <p:cNvSpPr/>
          <p:nvPr/>
        </p:nvSpPr>
        <p:spPr>
          <a:xfrm>
            <a:off x="457200" y="4367784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Collections range ₦82M–₦90M per month. March, July &amp; October are strongest.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NG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August dip = watch this carefully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Recommendations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77724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0" y="777240"/>
            <a:ext cx="420624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83480" y="960120"/>
            <a:ext cx="5029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8348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02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43800" y="1005840"/>
            <a:ext cx="132588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43800" y="1005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THIS QUARTER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2356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Tighten SME Loan Criteria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1600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Stricter checks before approving new SME loans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20624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03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17520" y="3154680"/>
            <a:ext cx="132588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017520" y="31546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NEXT QUARTER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728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Support Low Performers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Investigate and resource the bottom 3 branches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4206240" cy="731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83480" y="3108960"/>
            <a:ext cx="502920" cy="50292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834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04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543800" y="3154680"/>
            <a:ext cx="1325880" cy="27432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43800" y="31546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ONGOING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2356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Monthly Dashboard Review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83480" y="3749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Track trends via Power BI every month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7BF82ACD-ED5E-A81C-37F9-2418A63511BB}"/>
              </a:ext>
            </a:extLst>
          </p:cNvPr>
          <p:cNvSpPr/>
          <p:nvPr/>
        </p:nvSpPr>
        <p:spPr>
          <a:xfrm>
            <a:off x="274320" y="77724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4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AAE60C17-DC95-75D3-78FC-953B1E355D03}"/>
              </a:ext>
            </a:extLst>
          </p:cNvPr>
          <p:cNvSpPr/>
          <p:nvPr/>
        </p:nvSpPr>
        <p:spPr>
          <a:xfrm>
            <a:off x="274320" y="777240"/>
            <a:ext cx="420624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BED9C24E-D313-D262-2F7A-C31AF8AC7BF5}"/>
              </a:ext>
            </a:extLst>
          </p:cNvPr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2A57F949-7A0D-747C-EC8F-A87CA87AE392}"/>
              </a:ext>
            </a:extLst>
          </p:cNvPr>
          <p:cNvSpPr/>
          <p:nvPr/>
        </p:nvSpPr>
        <p:spPr>
          <a:xfrm>
            <a:off x="45720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01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AC36AD31-3B9C-1CB6-4A23-ED884C3D3AE1}"/>
              </a:ext>
            </a:extLst>
          </p:cNvPr>
          <p:cNvSpPr/>
          <p:nvPr/>
        </p:nvSpPr>
        <p:spPr>
          <a:xfrm>
            <a:off x="3017520" y="1005840"/>
            <a:ext cx="132588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F1A3DFDD-3A95-C943-07EA-8FEEDCAFBA09}"/>
              </a:ext>
            </a:extLst>
          </p:cNvPr>
          <p:cNvSpPr/>
          <p:nvPr/>
        </p:nvSpPr>
        <p:spPr>
          <a:xfrm>
            <a:off x="3017520" y="10058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DO THIS WEEK</a:t>
            </a:r>
            <a:endParaRPr lang="en-US" sz="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5CA1CE50-542C-E20F-B480-06B7B9A9B50E}"/>
              </a:ext>
            </a:extLst>
          </p:cNvPr>
          <p:cNvSpPr/>
          <p:nvPr/>
        </p:nvSpPr>
        <p:spPr>
          <a:xfrm>
            <a:off x="1097280" y="9601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Credit Review — North Region SME Loans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D43E8302-1A00-DBC4-39F7-C61E519802C7}"/>
              </a:ext>
            </a:extLst>
          </p:cNvPr>
          <p:cNvSpPr/>
          <p:nvPr/>
        </p:nvSpPr>
        <p:spPr>
          <a:xfrm>
            <a:off x="457200" y="1600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Review all active SME loans above ₦2M in the North immediately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data is clear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4DB6A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path forward is actionable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315200" cy="45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NG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₦1.78bn</a:t>
            </a:r>
            <a:endParaRPr lang="en-US" sz="4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CB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disbursed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62828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13.8%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CB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default rate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</a:t>
            </a:r>
            <a:endParaRPr lang="en-US" sz="4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CBC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recommendations</a:t>
            </a:r>
            <a:endParaRPr lang="en-US" sz="1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375</Words>
  <Application>Microsoft Office PowerPoint</Application>
  <PresentationFormat>On-screen Show (16:9)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Calisto MT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Precious Efejuku</cp:lastModifiedBy>
  <cp:revision>5</cp:revision>
  <dcterms:created xsi:type="dcterms:W3CDTF">2026-04-12T20:04:54Z</dcterms:created>
  <dcterms:modified xsi:type="dcterms:W3CDTF">2026-04-13T15:24:50Z</dcterms:modified>
</cp:coreProperties>
</file>